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Solar PV System Component Cost Breakdown</c:v>
                </c:pt>
              </c:strCache>
            </c:strRef>
          </c:tx>
          <c:spPr>
            <a:solidFill>
              <a:srgbClr val="FF4D6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4D6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18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361E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895E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CC9F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A0CA3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Modules</c:v>
                  </c:pt>
                  <c:pt idx="1">
                    <c:v>Inverters</c:v>
                  </c:pt>
                  <c:pt idx="2">
                    <c:v>Mounting</c:v>
                  </c:pt>
                  <c:pt idx="3">
                    <c:v>Electrical</c:v>
                  </c:pt>
                  <c:pt idx="4">
                    <c:v>Installation</c:v>
                  </c:pt>
                  <c:pt idx="5">
                    <c:v>Soft Costs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0.22</c:v>
                </c:pt>
                <c:pt idx="1">
                  <c:v>0.08</c:v>
                </c:pt>
                <c:pt idx="2">
                  <c:v>0.1</c:v>
                </c:pt>
                <c:pt idx="3">
                  <c:v>0.09</c:v>
                </c:pt>
                <c:pt idx="4">
                  <c:v>0.15</c:v>
                </c:pt>
                <c:pt idx="5">
                  <c:v>0.06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D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D4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Solar PV and Battery Storage Deployment</c:v>
                </c:pt>
              </c:strCache>
            </c:strRef>
          </c:tx>
          <c:spPr>
            <a:solidFill>
              <a:srgbClr val="FF4D6D"/>
            </a:solidFill>
            <a:ln w="25400" cap="flat">
              <a:solidFill>
                <a:srgbClr val="FF4D6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4D6D"/>
              </a:solidFill>
              <a:ln w="9525" cap="flat">
                <a:solidFill>
                  <a:srgbClr val="FF4D6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2015</c:v>
                  </c:pt>
                  <c:pt idx="1">
                    <c:v>2020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227</c:v>
                </c:pt>
                <c:pt idx="1">
                  <c:v>760</c:v>
                </c:pt>
                <c:pt idx="2">
                  <c:v>2000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D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D4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Global Solar PV Module Manufacturing Market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4D6D"/>
              </a:solidFill>
              <a:effectLst/>
            </c:spPr>
          </c:dPt>
          <c:dPt>
            <c:idx val="1"/>
            <c:bubble3D val="0"/>
            <c:spPr>
              <a:solidFill>
                <a:srgbClr val="C9184A"/>
              </a:solidFill>
              <a:effectLst/>
            </c:spPr>
          </c:dPt>
          <c:dPt>
            <c:idx val="2"/>
            <c:bubble3D val="0"/>
            <c:spPr>
              <a:solidFill>
                <a:srgbClr val="4361EE"/>
              </a:solidFill>
              <a:effectLst/>
            </c:spPr>
          </c:dPt>
          <c:dPt>
            <c:idx val="3"/>
            <c:bubble3D val="0"/>
            <c:spPr>
              <a:solidFill>
                <a:srgbClr val="4895EF"/>
              </a:solidFill>
              <a:effectLst/>
            </c:spPr>
          </c:dPt>
          <c:dPt>
            <c:idx val="4"/>
            <c:bubble3D val="0"/>
            <c:spPr>
              <a:solidFill>
                <a:srgbClr val="4CC9F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Longi Solar</c:v>
                </c:pt>
                <c:pt idx="1">
                  <c:v>Jinko Solar</c:v>
                </c:pt>
                <c:pt idx="2">
                  <c:v>Trina Solar</c:v>
                </c:pt>
                <c:pt idx="3">
                  <c:v>JA Solar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0.165</c:v>
                </c:pt>
                <c:pt idx="1">
                  <c:v>0.136</c:v>
                </c:pt>
                <c:pt idx="2">
                  <c:v>0.126</c:v>
                </c:pt>
                <c:pt idx="3">
                  <c:v>0.097</c:v>
                </c:pt>
                <c:pt idx="4">
                  <c:v>0.476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Solar PV and Battery Storage Market Value</c:v>
                </c:pt>
              </c:strCache>
            </c:strRef>
          </c:tx>
          <c:spPr>
            <a:solidFill>
              <a:srgbClr val="FF4D6D"/>
            </a:solidFill>
            <a:ln w="25400" cap="flat">
              <a:solidFill>
                <a:srgbClr val="FF4D6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4D6D"/>
              </a:solidFill>
              <a:ln w="9525" cap="flat">
                <a:solidFill>
                  <a:srgbClr val="FF4D6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2025</c:v>
                  </c:pt>
                  <c:pt idx="1">
                    <c:v>2030</c:v>
                  </c:pt>
                  <c:pt idx="2">
                    <c:v>2035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110</c:v>
                </c:pt>
                <c:pt idx="1">
                  <c:v>200</c:v>
                </c:pt>
                <c:pt idx="2">
                  <c:v>300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D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D4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_MAST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AGENDA_MASTER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MAST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MAST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Generated by EZ AI Agent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UAL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Generated by EZ AI Agent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_MASTER">
    <p:bg>
      <p:bgPr>
        <a:solidFill>
          <a:srgbClr val="FFE4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_MASTER">
    <p:bg>
      <p:bgPr>
        <a:solidFill>
          <a:srgbClr val="800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Generated by EZ AI Agent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84B6B"/>
                </a:solidFill>
              </a:rPr>
              <a:t>Global Solar PV and Battery Storage Market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</a:rPr>
              <a:t>Transforming the Energy Landscape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00020"/>
                </a:solidFill>
              </a:rPr>
              <a:t>Market Evolution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840480" cy="3200400"/>
          </a:xfrm>
          <a:prstGeom prst="roundRect">
            <a:avLst>
              <a:gd name="adj" fmla="val 1429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50800" dist="25400" dir="2700000">
              <a:srgbClr val="E5E5E5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3840480" cy="54864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2B2D42"/>
                </a:solidFill>
              </a:rPr>
              <a:t>Technological improvements in manufacturing, efficiency, and system integration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2B2D42"/>
                </a:solidFill>
              </a:rPr>
              <a:t>Economies of scale as production volumes have increased dramatically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89120" y="1280160"/>
            <a:ext cx="3840480" cy="3200400"/>
          </a:xfrm>
          <a:prstGeom prst="roundRect">
            <a:avLst>
              <a:gd name="adj" fmla="val 1429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50800" dist="25400" dir="2700000">
              <a:srgbClr val="E5E5E5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0" y="1280160"/>
            <a:ext cx="3840480" cy="54864"/>
          </a:xfrm>
          <a:prstGeom prst="rect">
            <a:avLst/>
          </a:prstGeom>
          <a:solidFill>
            <a:srgbClr val="D84B6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55448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2B2D42"/>
                </a:solidFill>
              </a:rPr>
              <a:t>Policy support through incentives, mandates, and carbon pricing mechanisms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2B2D42"/>
                </a:solidFill>
              </a:rPr>
              <a:t>Growing recognition of the strategic importance of renewable energy for energy security and climate goals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00020"/>
                </a:solidFill>
              </a:rPr>
              <a:t>Solar PV Cost Reduction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325880"/>
            <a:ext cx="2926080" cy="2011680"/>
          </a:xfrm>
          <a:prstGeom prst="roundRect">
            <a:avLst>
              <a:gd name="adj" fmla="val 4545"/>
            </a:avLst>
          </a:prstGeom>
          <a:solidFill>
            <a:srgbClr val="1E2A38"/>
          </a:solidFill>
          <a:ln/>
          <a:effectLst>
            <a:outerShdw sx="100000" sy="100000" kx="0" ky="0" algn="bl" rotWithShape="0" blurRad="63500" dist="38100" dir="2700000">
              <a:srgbClr val="A0A0A0">
                <a:alpha val="7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5087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4D6D"/>
                </a:solidFill>
              </a:rPr>
              <a:t>66.2%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21945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514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REDUCTION IN MODULE COSTS BETWEEN 2015 AND 2025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566160" y="123444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3566160" y="4343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D42"/>
                </a:solidFill>
              </a:rPr>
              <a:t>Note: The cost reductions in solar PV systems have not been uniform across all components, with module costs seeing the most dramatic declines.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00020"/>
                </a:solidFill>
              </a:rPr>
              <a:t>Battery Storage Technologies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840480" cy="1463040"/>
          </a:xfrm>
          <a:prstGeom prst="roundRect">
            <a:avLst>
              <a:gd name="adj" fmla="val 3125"/>
            </a:avLst>
          </a:prstGeom>
          <a:solidFill>
            <a:srgbClr val="F8F9FA"/>
          </a:solidFill>
          <a:ln w="12700">
            <a:solidFill>
              <a:srgbClr val="800020"/>
            </a:solidFill>
            <a:prstDash val="solid"/>
          </a:ln>
          <a:effectLst>
            <a:outerShdw sx="100000" sy="100000" kx="0" ky="0" algn="bl" rotWithShape="0" blurRad="38100" dist="25400" dir="2700000">
              <a:srgbClr val="E5E5E5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3840480" cy="54864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</a:rPr>
              <a:t>Lithium-ion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B2D42"/>
                </a:solidFill>
              </a:rPr>
              <a:t>Dominant technology, high energy density, and long cycle life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3840480" cy="1463040"/>
          </a:xfrm>
          <a:prstGeom prst="roundRect">
            <a:avLst>
              <a:gd name="adj" fmla="val 3125"/>
            </a:avLst>
          </a:prstGeom>
          <a:solidFill>
            <a:srgbClr val="F8F9FA"/>
          </a:solidFill>
          <a:ln w="12700">
            <a:solidFill>
              <a:srgbClr val="800020"/>
            </a:solidFill>
            <a:prstDash val="solid"/>
          </a:ln>
          <a:effectLst>
            <a:outerShdw sx="100000" sy="100000" kx="0" ky="0" algn="bl" rotWithShape="0" blurRad="38100" dist="25400" dir="2700000">
              <a:srgbClr val="E5E5E5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280160"/>
            <a:ext cx="3840480" cy="54864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</a:rPr>
              <a:t>Flow Battery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7373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B2D42"/>
                </a:solidFill>
              </a:rPr>
              <a:t>Long-duration storage, high scalability, and low cost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840480" cy="1463040"/>
          </a:xfrm>
          <a:prstGeom prst="roundRect">
            <a:avLst>
              <a:gd name="adj" fmla="val 3125"/>
            </a:avLst>
          </a:prstGeom>
          <a:solidFill>
            <a:srgbClr val="F8F9FA"/>
          </a:solidFill>
          <a:ln w="12700">
            <a:solidFill>
              <a:srgbClr val="800020"/>
            </a:solidFill>
            <a:prstDash val="solid"/>
          </a:ln>
          <a:effectLst>
            <a:outerShdw sx="100000" sy="100000" kx="0" ky="0" algn="bl" rotWithShape="0" blurRad="38100" dist="25400" dir="2700000">
              <a:srgbClr val="E5E5E5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26080"/>
            <a:ext cx="3840480" cy="54864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63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</a:rPr>
              <a:t>Sodium-ion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B2D42"/>
                </a:solidFill>
              </a:rPr>
              <a:t>Emerging technology, potentially lower cost, and abundant materials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3840480" cy="1463040"/>
          </a:xfrm>
          <a:prstGeom prst="roundRect">
            <a:avLst>
              <a:gd name="adj" fmla="val 3125"/>
            </a:avLst>
          </a:prstGeom>
          <a:solidFill>
            <a:srgbClr val="F8F9FA"/>
          </a:solidFill>
          <a:ln w="12700">
            <a:solidFill>
              <a:srgbClr val="800020"/>
            </a:solidFill>
            <a:prstDash val="solid"/>
          </a:ln>
          <a:effectLst>
            <a:outerShdw sx="100000" sy="100000" kx="0" ky="0" algn="bl" rotWithShape="0" blurRad="38100" dist="25400" dir="2700000">
              <a:srgbClr val="E5E5E5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926080"/>
            <a:ext cx="3840480" cy="54864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3063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</a:rPr>
              <a:t>Lead-acid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3832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B2D42"/>
                </a:solidFill>
              </a:rPr>
              <a:t>Mature technology, low cost, but limited cycle life and energy density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00020"/>
                </a:solidFill>
              </a:rPr>
              <a:t>Market Adoption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325880"/>
            <a:ext cx="2926080" cy="2011680"/>
          </a:xfrm>
          <a:prstGeom prst="roundRect">
            <a:avLst>
              <a:gd name="adj" fmla="val 4545"/>
            </a:avLst>
          </a:prstGeom>
          <a:solidFill>
            <a:srgbClr val="1E2A38"/>
          </a:solidFill>
          <a:ln/>
          <a:effectLst>
            <a:outerShdw sx="100000" sy="100000" kx="0" ky="0" algn="bl" rotWithShape="0" blurRad="63500" dist="38100" dir="2700000">
              <a:srgbClr val="A0A0A0">
                <a:alpha val="7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5087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4D6D"/>
                </a:solidFill>
              </a:rPr>
              <a:t>2,000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21945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514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GW GLOBAL SOLAR PV CAPACITY BY 2025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566160" y="123444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3566160" y="4343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D42"/>
                </a:solidFill>
              </a:rPr>
              <a:t>Note: The global deployment of solar PV and battery storage has accelerated dramatically over the past decade, with both technologies experiencing exponential growth trajectories.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00020"/>
                </a:solidFill>
              </a:rPr>
              <a:t>Integration with Broader Energy Systems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07008" y="2011680"/>
            <a:ext cx="6729984" cy="0"/>
          </a:xfrm>
          <a:prstGeom prst="line">
            <a:avLst/>
          </a:prstGeom>
          <a:noFill/>
          <a:ln w="38100">
            <a:solidFill>
              <a:srgbClr val="800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1316736" cy="320040"/>
          </a:xfrm>
          <a:prstGeom prst="roundRect">
            <a:avLst>
              <a:gd name="adj" fmla="val 142857"/>
            </a:avLst>
          </a:prstGeom>
          <a:solidFill>
            <a:srgbClr val="D84B6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1316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01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33856" y="193852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00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94560"/>
            <a:ext cx="1499616" cy="2011680"/>
          </a:xfrm>
          <a:prstGeom prst="roundRect">
            <a:avLst>
              <a:gd name="adj" fmla="val 3049"/>
            </a:avLst>
          </a:prstGeom>
          <a:solidFill>
            <a:srgbClr val="F8F9FA"/>
          </a:solidFill>
          <a:ln w="19050">
            <a:solidFill>
              <a:srgbClr val="800020"/>
            </a:solidFill>
            <a:prstDash val="solid"/>
          </a:ln>
          <a:effectLst>
            <a:outerShdw sx="100000" sy="100000" kx="0" ky="0" algn="bl" rotWithShape="0" blurRad="38100" dist="25400" dir="2700000">
              <a:srgbClr val="E5E5E5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28600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0020"/>
                </a:solidFill>
              </a:rPr>
              <a:t>Electric vehicle integrat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13167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B2D42"/>
                </a:solidFill>
              </a:rPr>
              <a:t>Electric vehicle integration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31136" y="1463040"/>
            <a:ext cx="1316736" cy="320040"/>
          </a:xfrm>
          <a:prstGeom prst="roundRect">
            <a:avLst>
              <a:gd name="adj" fmla="val 142857"/>
            </a:avLst>
          </a:prstGeom>
          <a:solidFill>
            <a:srgbClr val="D84B6B"/>
          </a:solidFill>
          <a:ln/>
        </p:spPr>
      </p:sp>
      <p:sp>
        <p:nvSpPr>
          <p:cNvPr id="11" name="Text 9"/>
          <p:cNvSpPr/>
          <p:nvPr/>
        </p:nvSpPr>
        <p:spPr>
          <a:xfrm>
            <a:off x="2231136" y="1463040"/>
            <a:ext cx="1316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02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16352" y="193852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00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39696" y="2194560"/>
            <a:ext cx="1499616" cy="2011680"/>
          </a:xfrm>
          <a:prstGeom prst="roundRect">
            <a:avLst>
              <a:gd name="adj" fmla="val 3049"/>
            </a:avLst>
          </a:prstGeom>
          <a:solidFill>
            <a:srgbClr val="F8F9FA"/>
          </a:solidFill>
          <a:ln w="19050">
            <a:solidFill>
              <a:srgbClr val="800020"/>
            </a:solidFill>
            <a:prstDash val="solid"/>
          </a:ln>
          <a:effectLst>
            <a:outerShdw sx="100000" sy="100000" kx="0" ky="0" algn="bl" rotWithShape="0" blurRad="38100" dist="25400" dir="2700000">
              <a:srgbClr val="E5E5E5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31136" y="228600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0020"/>
                </a:solidFill>
              </a:rPr>
              <a:t>Hydrogen production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31136" y="2834640"/>
            <a:ext cx="13167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B2D42"/>
                </a:solidFill>
              </a:rPr>
              <a:t>Hydrogen production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13632" y="1463040"/>
            <a:ext cx="1316736" cy="320040"/>
          </a:xfrm>
          <a:prstGeom prst="roundRect">
            <a:avLst>
              <a:gd name="adj" fmla="val 142857"/>
            </a:avLst>
          </a:prstGeom>
          <a:solidFill>
            <a:srgbClr val="D84B6B"/>
          </a:solidFill>
          <a:ln/>
        </p:spPr>
      </p:sp>
      <p:sp>
        <p:nvSpPr>
          <p:cNvPr id="17" name="Text 15"/>
          <p:cNvSpPr/>
          <p:nvPr/>
        </p:nvSpPr>
        <p:spPr>
          <a:xfrm>
            <a:off x="3913632" y="1463040"/>
            <a:ext cx="1316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03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98848" y="193852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000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22192" y="2194560"/>
            <a:ext cx="1499616" cy="2011680"/>
          </a:xfrm>
          <a:prstGeom prst="roundRect">
            <a:avLst>
              <a:gd name="adj" fmla="val 3049"/>
            </a:avLst>
          </a:prstGeom>
          <a:solidFill>
            <a:srgbClr val="F8F9FA"/>
          </a:solidFill>
          <a:ln w="19050">
            <a:solidFill>
              <a:srgbClr val="800020"/>
            </a:solidFill>
            <a:prstDash val="solid"/>
          </a:ln>
          <a:effectLst>
            <a:outerShdw sx="100000" sy="100000" kx="0" ky="0" algn="bl" rotWithShape="0" blurRad="38100" dist="25400" dir="2700000">
              <a:srgbClr val="E5E5E5">
                <a:alpha val="7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913632" y="228600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0020"/>
                </a:solidFill>
              </a:rPr>
              <a:t>Heat pump coupling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13632" y="2834640"/>
            <a:ext cx="13167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B2D42"/>
                </a:solidFill>
              </a:rPr>
              <a:t>Heat pump coupling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96128" y="1463040"/>
            <a:ext cx="1316736" cy="320040"/>
          </a:xfrm>
          <a:prstGeom prst="roundRect">
            <a:avLst>
              <a:gd name="adj" fmla="val 142857"/>
            </a:avLst>
          </a:prstGeom>
          <a:solidFill>
            <a:srgbClr val="D84B6B"/>
          </a:solidFill>
          <a:ln/>
        </p:spPr>
      </p:sp>
      <p:sp>
        <p:nvSpPr>
          <p:cNvPr id="23" name="Text 21"/>
          <p:cNvSpPr/>
          <p:nvPr/>
        </p:nvSpPr>
        <p:spPr>
          <a:xfrm>
            <a:off x="5596128" y="1463040"/>
            <a:ext cx="1316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04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81344" y="193852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000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04688" y="2194560"/>
            <a:ext cx="1499616" cy="2011680"/>
          </a:xfrm>
          <a:prstGeom prst="roundRect">
            <a:avLst>
              <a:gd name="adj" fmla="val 3049"/>
            </a:avLst>
          </a:prstGeom>
          <a:solidFill>
            <a:srgbClr val="F8F9FA"/>
          </a:solidFill>
          <a:ln w="19050">
            <a:solidFill>
              <a:srgbClr val="800020"/>
            </a:solidFill>
            <a:prstDash val="solid"/>
          </a:ln>
          <a:effectLst>
            <a:outerShdw sx="100000" sy="100000" kx="0" ky="0" algn="bl" rotWithShape="0" blurRad="38100" dist="25400" dir="2700000">
              <a:srgbClr val="E5E5E5">
                <a:alpha val="7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596128" y="228600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0020"/>
                </a:solidFill>
              </a:rPr>
              <a:t>Industrial process integr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96128" y="2834640"/>
            <a:ext cx="13167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B2D42"/>
                </a:solidFill>
              </a:rPr>
              <a:t>Industrial process integration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78624" y="1463040"/>
            <a:ext cx="1316736" cy="320040"/>
          </a:xfrm>
          <a:prstGeom prst="roundRect">
            <a:avLst>
              <a:gd name="adj" fmla="val 142857"/>
            </a:avLst>
          </a:prstGeom>
          <a:solidFill>
            <a:srgbClr val="D84B6B"/>
          </a:solidFill>
          <a:ln/>
        </p:spPr>
      </p:sp>
      <p:sp>
        <p:nvSpPr>
          <p:cNvPr id="29" name="Text 27"/>
          <p:cNvSpPr/>
          <p:nvPr/>
        </p:nvSpPr>
        <p:spPr>
          <a:xfrm>
            <a:off x="7278624" y="1463040"/>
            <a:ext cx="1316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05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63840" y="193852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000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87184" y="2194560"/>
            <a:ext cx="1499616" cy="2011680"/>
          </a:xfrm>
          <a:prstGeom prst="roundRect">
            <a:avLst>
              <a:gd name="adj" fmla="val 3049"/>
            </a:avLst>
          </a:prstGeom>
          <a:solidFill>
            <a:srgbClr val="F8F9FA"/>
          </a:solidFill>
          <a:ln w="19050">
            <a:solidFill>
              <a:srgbClr val="800020"/>
            </a:solidFill>
            <a:prstDash val="solid"/>
          </a:ln>
          <a:effectLst>
            <a:outerShdw sx="100000" sy="100000" kx="0" ky="0" algn="bl" rotWithShape="0" blurRad="38100" dist="25400" dir="2700000">
              <a:srgbClr val="E5E5E5">
                <a:alpha val="7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278624" y="228600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0020"/>
                </a:solidFill>
              </a:rPr>
              <a:t>Smart home/building integ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78624" y="2834640"/>
            <a:ext cx="13167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B2D42"/>
                </a:solidFill>
              </a:rPr>
              <a:t>Smart home/building integration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00020"/>
                </a:solidFill>
              </a:rPr>
              <a:t>Policy Influence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840480" cy="3200400"/>
          </a:xfrm>
          <a:prstGeom prst="roundRect">
            <a:avLst>
              <a:gd name="adj" fmla="val 1429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50800" dist="25400" dir="2700000">
              <a:srgbClr val="E5E5E5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3840480" cy="54864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2B2D42"/>
                </a:solidFill>
              </a:rPr>
              <a:t>Carbon pricing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2B2D42"/>
                </a:solidFill>
              </a:rPr>
              <a:t>Capacity market reforms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2B2D42"/>
                </a:solidFill>
              </a:rPr>
              <a:t>Distribution system operator (DSO) models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89120" y="1280160"/>
            <a:ext cx="3840480" cy="3200400"/>
          </a:xfrm>
          <a:prstGeom prst="roundRect">
            <a:avLst>
              <a:gd name="adj" fmla="val 1429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50800" dist="25400" dir="2700000">
              <a:srgbClr val="E5E5E5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0" y="1280160"/>
            <a:ext cx="3840480" cy="54864"/>
          </a:xfrm>
          <a:prstGeom prst="rect">
            <a:avLst/>
          </a:prstGeom>
          <a:solidFill>
            <a:srgbClr val="D84B6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55448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2B2D42"/>
                </a:solidFill>
              </a:rPr>
              <a:t>Renewable energy targets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2B2D42"/>
                </a:solidFill>
              </a:rPr>
              <a:t>Building standards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00020"/>
                </a:solidFill>
              </a:rPr>
              <a:t>Regional Market Trends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840480" cy="1463040"/>
          </a:xfrm>
          <a:prstGeom prst="roundRect">
            <a:avLst>
              <a:gd name="adj" fmla="val 3125"/>
            </a:avLst>
          </a:prstGeom>
          <a:solidFill>
            <a:srgbClr val="F8F9FA"/>
          </a:solidFill>
          <a:ln w="12700">
            <a:solidFill>
              <a:srgbClr val="800020"/>
            </a:solidFill>
            <a:prstDash val="solid"/>
          </a:ln>
          <a:effectLst>
            <a:outerShdw sx="100000" sy="100000" kx="0" ky="0" algn="bl" rotWithShape="0" blurRad="38100" dist="25400" dir="2700000">
              <a:srgbClr val="E5E5E5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3840480" cy="54864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</a:rPr>
              <a:t>North America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B2D42"/>
                </a:solidFill>
              </a:rPr>
              <a:t>Diverse deployment models, strong growth in utility-scale and residential segments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3840480" cy="1463040"/>
          </a:xfrm>
          <a:prstGeom prst="roundRect">
            <a:avLst>
              <a:gd name="adj" fmla="val 3125"/>
            </a:avLst>
          </a:prstGeom>
          <a:solidFill>
            <a:srgbClr val="F8F9FA"/>
          </a:solidFill>
          <a:ln w="12700">
            <a:solidFill>
              <a:srgbClr val="800020"/>
            </a:solidFill>
            <a:prstDash val="solid"/>
          </a:ln>
          <a:effectLst>
            <a:outerShdw sx="100000" sy="100000" kx="0" ky="0" algn="bl" rotWithShape="0" blurRad="38100" dist="25400" dir="2700000">
              <a:srgbClr val="E5E5E5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280160"/>
            <a:ext cx="3840480" cy="54864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</a:rPr>
              <a:t>Europe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7373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B2D42"/>
                </a:solidFill>
              </a:rPr>
              <a:t>Mature residential sector, energy security focus, and grid integration challenges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840480" cy="1463040"/>
          </a:xfrm>
          <a:prstGeom prst="roundRect">
            <a:avLst>
              <a:gd name="adj" fmla="val 3125"/>
            </a:avLst>
          </a:prstGeom>
          <a:solidFill>
            <a:srgbClr val="F8F9FA"/>
          </a:solidFill>
          <a:ln w="12700">
            <a:solidFill>
              <a:srgbClr val="800020"/>
            </a:solidFill>
            <a:prstDash val="solid"/>
          </a:ln>
          <a:effectLst>
            <a:outerShdw sx="100000" sy="100000" kx="0" ky="0" algn="bl" rotWithShape="0" blurRad="38100" dist="25400" dir="2700000">
              <a:srgbClr val="E5E5E5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26080"/>
            <a:ext cx="3840480" cy="54864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63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</a:rPr>
              <a:t>Asia Pacific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B2D42"/>
                </a:solidFill>
              </a:rPr>
              <a:t>Dominant market, strong policy support, and growing electricity demand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3840480" cy="1463040"/>
          </a:xfrm>
          <a:prstGeom prst="roundRect">
            <a:avLst>
              <a:gd name="adj" fmla="val 3125"/>
            </a:avLst>
          </a:prstGeom>
          <a:solidFill>
            <a:srgbClr val="F8F9FA"/>
          </a:solidFill>
          <a:ln w="12700">
            <a:solidFill>
              <a:srgbClr val="800020"/>
            </a:solidFill>
            <a:prstDash val="solid"/>
          </a:ln>
          <a:effectLst>
            <a:outerShdw sx="100000" sy="100000" kx="0" ky="0" algn="bl" rotWithShape="0" blurRad="38100" dist="25400" dir="2700000">
              <a:srgbClr val="E5E5E5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926080"/>
            <a:ext cx="3840480" cy="54864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3063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</a:rPr>
              <a:t>Latin America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3832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B2D42"/>
                </a:solidFill>
              </a:rPr>
              <a:t>Emerging market, growing demand, and increasing focus on renewable energy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00020"/>
                </a:solidFill>
              </a:rPr>
              <a:t>Industry Landscape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572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303520" y="137160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1E2A38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0" y="1645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6D"/>
                </a:solidFill>
              </a:rPr>
              <a:t>💡 STRATEGIC FOCUS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0" y="21031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The solar PV manufacturing landscape is characterized by significant concentration, particularly in module production, with Chinese manufacturers dominating global capacity.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00020"/>
                </a:solidFill>
              </a:rPr>
              <a:t>Innovation Landscape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07008" y="2011680"/>
            <a:ext cx="6729984" cy="0"/>
          </a:xfrm>
          <a:prstGeom prst="line">
            <a:avLst/>
          </a:prstGeom>
          <a:noFill/>
          <a:ln w="38100">
            <a:solidFill>
              <a:srgbClr val="800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1316736" cy="320040"/>
          </a:xfrm>
          <a:prstGeom prst="roundRect">
            <a:avLst>
              <a:gd name="adj" fmla="val 142857"/>
            </a:avLst>
          </a:prstGeom>
          <a:solidFill>
            <a:srgbClr val="D84B6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1316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01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33856" y="193852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00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94560"/>
            <a:ext cx="1499616" cy="2011680"/>
          </a:xfrm>
          <a:prstGeom prst="roundRect">
            <a:avLst>
              <a:gd name="adj" fmla="val 3049"/>
            </a:avLst>
          </a:prstGeom>
          <a:solidFill>
            <a:srgbClr val="F8F9FA"/>
          </a:solidFill>
          <a:ln w="19050">
            <a:solidFill>
              <a:srgbClr val="800020"/>
            </a:solidFill>
            <a:prstDash val="solid"/>
          </a:ln>
          <a:effectLst>
            <a:outerShdw sx="100000" sy="100000" kx="0" ky="0" algn="bl" rotWithShape="0" blurRad="38100" dist="25400" dir="2700000">
              <a:srgbClr val="E5E5E5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28600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0020"/>
                </a:solidFill>
              </a:rPr>
              <a:t>Tandem cell architectures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13167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B2D42"/>
                </a:solidFill>
              </a:rPr>
              <a:t>Tandem cell architectures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31136" y="1463040"/>
            <a:ext cx="1316736" cy="320040"/>
          </a:xfrm>
          <a:prstGeom prst="roundRect">
            <a:avLst>
              <a:gd name="adj" fmla="val 142857"/>
            </a:avLst>
          </a:prstGeom>
          <a:solidFill>
            <a:srgbClr val="D84B6B"/>
          </a:solidFill>
          <a:ln/>
        </p:spPr>
      </p:sp>
      <p:sp>
        <p:nvSpPr>
          <p:cNvPr id="11" name="Text 9"/>
          <p:cNvSpPr/>
          <p:nvPr/>
        </p:nvSpPr>
        <p:spPr>
          <a:xfrm>
            <a:off x="2231136" y="1463040"/>
            <a:ext cx="1316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02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16352" y="193852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00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39696" y="2194560"/>
            <a:ext cx="1499616" cy="2011680"/>
          </a:xfrm>
          <a:prstGeom prst="roundRect">
            <a:avLst>
              <a:gd name="adj" fmla="val 3049"/>
            </a:avLst>
          </a:prstGeom>
          <a:solidFill>
            <a:srgbClr val="F8F9FA"/>
          </a:solidFill>
          <a:ln w="19050">
            <a:solidFill>
              <a:srgbClr val="800020"/>
            </a:solidFill>
            <a:prstDash val="solid"/>
          </a:ln>
          <a:effectLst>
            <a:outerShdw sx="100000" sy="100000" kx="0" ky="0" algn="bl" rotWithShape="0" blurRad="38100" dist="25400" dir="2700000">
              <a:srgbClr val="E5E5E5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31136" y="228600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0020"/>
                </a:solidFill>
              </a:rPr>
              <a:t>Perovskite solar cells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31136" y="2834640"/>
            <a:ext cx="13167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B2D42"/>
                </a:solidFill>
              </a:rPr>
              <a:t>Perovskite solar cells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13632" y="1463040"/>
            <a:ext cx="1316736" cy="320040"/>
          </a:xfrm>
          <a:prstGeom prst="roundRect">
            <a:avLst>
              <a:gd name="adj" fmla="val 142857"/>
            </a:avLst>
          </a:prstGeom>
          <a:solidFill>
            <a:srgbClr val="D84B6B"/>
          </a:solidFill>
          <a:ln/>
        </p:spPr>
      </p:sp>
      <p:sp>
        <p:nvSpPr>
          <p:cNvPr id="17" name="Text 15"/>
          <p:cNvSpPr/>
          <p:nvPr/>
        </p:nvSpPr>
        <p:spPr>
          <a:xfrm>
            <a:off x="3913632" y="1463040"/>
            <a:ext cx="1316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03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98848" y="193852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000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22192" y="2194560"/>
            <a:ext cx="1499616" cy="2011680"/>
          </a:xfrm>
          <a:prstGeom prst="roundRect">
            <a:avLst>
              <a:gd name="adj" fmla="val 3049"/>
            </a:avLst>
          </a:prstGeom>
          <a:solidFill>
            <a:srgbClr val="F8F9FA"/>
          </a:solidFill>
          <a:ln w="19050">
            <a:solidFill>
              <a:srgbClr val="800020"/>
            </a:solidFill>
            <a:prstDash val="solid"/>
          </a:ln>
          <a:effectLst>
            <a:outerShdw sx="100000" sy="100000" kx="0" ky="0" algn="bl" rotWithShape="0" blurRad="38100" dist="25400" dir="2700000">
              <a:srgbClr val="E5E5E5">
                <a:alpha val="7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913632" y="228600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0020"/>
                </a:solidFill>
              </a:rPr>
              <a:t>Bifacial technology optim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13632" y="2834640"/>
            <a:ext cx="13167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B2D42"/>
                </a:solidFill>
              </a:rPr>
              <a:t>Bifacial technology optimization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96128" y="1463040"/>
            <a:ext cx="1316736" cy="320040"/>
          </a:xfrm>
          <a:prstGeom prst="roundRect">
            <a:avLst>
              <a:gd name="adj" fmla="val 142857"/>
            </a:avLst>
          </a:prstGeom>
          <a:solidFill>
            <a:srgbClr val="D84B6B"/>
          </a:solidFill>
          <a:ln/>
        </p:spPr>
      </p:sp>
      <p:sp>
        <p:nvSpPr>
          <p:cNvPr id="23" name="Text 21"/>
          <p:cNvSpPr/>
          <p:nvPr/>
        </p:nvSpPr>
        <p:spPr>
          <a:xfrm>
            <a:off x="5596128" y="1463040"/>
            <a:ext cx="1316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04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81344" y="193852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000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04688" y="2194560"/>
            <a:ext cx="1499616" cy="2011680"/>
          </a:xfrm>
          <a:prstGeom prst="roundRect">
            <a:avLst>
              <a:gd name="adj" fmla="val 3049"/>
            </a:avLst>
          </a:prstGeom>
          <a:solidFill>
            <a:srgbClr val="F8F9FA"/>
          </a:solidFill>
          <a:ln w="19050">
            <a:solidFill>
              <a:srgbClr val="800020"/>
            </a:solidFill>
            <a:prstDash val="solid"/>
          </a:ln>
          <a:effectLst>
            <a:outerShdw sx="100000" sy="100000" kx="0" ky="0" algn="bl" rotWithShape="0" blurRad="38100" dist="25400" dir="2700000">
              <a:srgbClr val="E5E5E5">
                <a:alpha val="7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596128" y="228600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0020"/>
                </a:solidFill>
              </a:rPr>
              <a:t>Building-integrated PV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96128" y="2834640"/>
            <a:ext cx="13167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B2D42"/>
                </a:solidFill>
              </a:rPr>
              <a:t>Building-integrated PV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78624" y="1463040"/>
            <a:ext cx="1316736" cy="320040"/>
          </a:xfrm>
          <a:prstGeom prst="roundRect">
            <a:avLst>
              <a:gd name="adj" fmla="val 142857"/>
            </a:avLst>
          </a:prstGeom>
          <a:solidFill>
            <a:srgbClr val="D84B6B"/>
          </a:solidFill>
          <a:ln/>
        </p:spPr>
      </p:sp>
      <p:sp>
        <p:nvSpPr>
          <p:cNvPr id="29" name="Text 27"/>
          <p:cNvSpPr/>
          <p:nvPr/>
        </p:nvSpPr>
        <p:spPr>
          <a:xfrm>
            <a:off x="7278624" y="1463040"/>
            <a:ext cx="1316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05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63840" y="193852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000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87184" y="2194560"/>
            <a:ext cx="1499616" cy="2011680"/>
          </a:xfrm>
          <a:prstGeom prst="roundRect">
            <a:avLst>
              <a:gd name="adj" fmla="val 3049"/>
            </a:avLst>
          </a:prstGeom>
          <a:solidFill>
            <a:srgbClr val="F8F9FA"/>
          </a:solidFill>
          <a:ln w="19050">
            <a:solidFill>
              <a:srgbClr val="800020"/>
            </a:solidFill>
            <a:prstDash val="solid"/>
          </a:ln>
          <a:effectLst>
            <a:outerShdw sx="100000" sy="100000" kx="0" ky="0" algn="bl" rotWithShape="0" blurRad="38100" dist="25400" dir="2700000">
              <a:srgbClr val="E5E5E5">
                <a:alpha val="7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278624" y="228600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0020"/>
                </a:solidFill>
              </a:rPr>
              <a:t>Floating solar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78624" y="2834640"/>
            <a:ext cx="13167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B2D42"/>
                </a:solidFill>
              </a:rPr>
              <a:t>Floating solar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00020"/>
                </a:solidFill>
              </a:rPr>
              <a:t>Growth Forecast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325880"/>
            <a:ext cx="2926080" cy="2011680"/>
          </a:xfrm>
          <a:prstGeom prst="roundRect">
            <a:avLst>
              <a:gd name="adj" fmla="val 4545"/>
            </a:avLst>
          </a:prstGeom>
          <a:solidFill>
            <a:srgbClr val="1E2A38"/>
          </a:solidFill>
          <a:ln/>
          <a:effectLst>
            <a:outerShdw sx="100000" sy="100000" kx="0" ky="0" algn="bl" rotWithShape="0" blurRad="63500" dist="38100" dir="2700000">
              <a:srgbClr val="A0A0A0">
                <a:alpha val="7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5087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4D6D"/>
                </a:solidFill>
              </a:rPr>
              <a:t>$300B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21945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514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COMBINED MARKET VALUE BY 2035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566160" y="123444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3566160" y="4343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D42"/>
                </a:solidFill>
              </a:rPr>
              <a:t>Note: The global solar PV and battery storage market is projected to maintain strong growth over the next decade, driven by continued cost reductions, supportive policies, and increasing electricity demand.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00020"/>
                </a:solidFill>
              </a:rPr>
              <a:t>Regional Growth Drivers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840480" cy="1463040"/>
          </a:xfrm>
          <a:prstGeom prst="roundRect">
            <a:avLst>
              <a:gd name="adj" fmla="val 3125"/>
            </a:avLst>
          </a:prstGeom>
          <a:solidFill>
            <a:srgbClr val="F8F9FA"/>
          </a:solidFill>
          <a:ln w="12700">
            <a:solidFill>
              <a:srgbClr val="800020"/>
            </a:solidFill>
            <a:prstDash val="solid"/>
          </a:ln>
          <a:effectLst>
            <a:outerShdw sx="100000" sy="100000" kx="0" ky="0" algn="bl" rotWithShape="0" blurRad="38100" dist="25400" dir="2700000">
              <a:srgbClr val="E5E5E5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3840480" cy="54864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</a:rPr>
              <a:t>North America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B2D42"/>
                </a:solidFill>
              </a:rPr>
              <a:t>Long-term policy stability, corporate commitments to clean energy, and electrification of transportation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3840480" cy="1463040"/>
          </a:xfrm>
          <a:prstGeom prst="roundRect">
            <a:avLst>
              <a:gd name="adj" fmla="val 3125"/>
            </a:avLst>
          </a:prstGeom>
          <a:solidFill>
            <a:srgbClr val="F8F9FA"/>
          </a:solidFill>
          <a:ln w="12700">
            <a:solidFill>
              <a:srgbClr val="800020"/>
            </a:solidFill>
            <a:prstDash val="solid"/>
          </a:ln>
          <a:effectLst>
            <a:outerShdw sx="100000" sy="100000" kx="0" ky="0" algn="bl" rotWithShape="0" blurRad="38100" dist="25400" dir="2700000">
              <a:srgbClr val="E5E5E5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280160"/>
            <a:ext cx="3840480" cy="54864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</a:rPr>
              <a:t>Europe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7373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B2D42"/>
                </a:solidFill>
              </a:rPr>
              <a:t>Energy security concerns, high electricity prices, and grid modernization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840480" cy="1463040"/>
          </a:xfrm>
          <a:prstGeom prst="roundRect">
            <a:avLst>
              <a:gd name="adj" fmla="val 3125"/>
            </a:avLst>
          </a:prstGeom>
          <a:solidFill>
            <a:srgbClr val="F8F9FA"/>
          </a:solidFill>
          <a:ln w="12700">
            <a:solidFill>
              <a:srgbClr val="800020"/>
            </a:solidFill>
            <a:prstDash val="solid"/>
          </a:ln>
          <a:effectLst>
            <a:outerShdw sx="100000" sy="100000" kx="0" ky="0" algn="bl" rotWithShape="0" blurRad="38100" dist="25400" dir="2700000">
              <a:srgbClr val="E5E5E5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26080"/>
            <a:ext cx="3840480" cy="54864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63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</a:rPr>
              <a:t>Asia Pacific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B2D42"/>
                </a:solidFill>
              </a:rPr>
              <a:t>Continued strong policy support, growing electricity demand, and increasing focus on air quality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3840480" cy="1463040"/>
          </a:xfrm>
          <a:prstGeom prst="roundRect">
            <a:avLst>
              <a:gd name="adj" fmla="val 3125"/>
            </a:avLst>
          </a:prstGeom>
          <a:solidFill>
            <a:srgbClr val="F8F9FA"/>
          </a:solidFill>
          <a:ln w="12700">
            <a:solidFill>
              <a:srgbClr val="800020"/>
            </a:solidFill>
            <a:prstDash val="solid"/>
          </a:ln>
          <a:effectLst>
            <a:outerShdw sx="100000" sy="100000" kx="0" ky="0" algn="bl" rotWithShape="0" blurRad="38100" dist="25400" dir="2700000">
              <a:srgbClr val="E5E5E5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926080"/>
            <a:ext cx="3840480" cy="54864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3063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</a:rPr>
              <a:t>Latin America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3832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B2D42"/>
                </a:solidFill>
              </a:rPr>
              <a:t>Emerging market, growing demand, and increasing focus on renewable energy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00020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8229600" cy="82296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50800" dist="25400" dir="5400000">
              <a:srgbClr val="E5E5E5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463040"/>
            <a:ext cx="91440" cy="822960"/>
          </a:xfrm>
          <a:prstGeom prst="rect">
            <a:avLst/>
          </a:prstGeom>
          <a:solidFill>
            <a:srgbClr val="D84B6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</a:rPr>
              <a:t>The global solar PV and battery storage market is undergoing a transformative phase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8229600" cy="82296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50800" dist="25400" dir="5400000">
              <a:srgbClr val="E5E5E5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468880"/>
            <a:ext cx="91440" cy="822960"/>
          </a:xfrm>
          <a:prstGeom prst="rect">
            <a:avLst/>
          </a:prstGeom>
          <a:solidFill>
            <a:srgbClr val="D84B6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68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</a:rPr>
              <a:t>Cost reductions, technological improvements, and policy support are driving growth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8229600" cy="82296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50800" dist="25400" dir="5400000">
              <a:srgbClr val="E5E5E5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474720"/>
            <a:ext cx="91440" cy="822960"/>
          </a:xfrm>
          <a:prstGeom prst="rect">
            <a:avLst/>
          </a:prstGeom>
          <a:solidFill>
            <a:srgbClr val="D84B6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474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</a:rPr>
              <a:t>The market is projected to maintain strong growth over the next decade, driven by increasing demand and decreasing costs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00020"/>
                </a:solidFill>
              </a:rPr>
              <a:t>Final Thoughts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8229600" cy="82296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50800" dist="25400" dir="5400000">
              <a:srgbClr val="E5E5E5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463040"/>
            <a:ext cx="91440" cy="822960"/>
          </a:xfrm>
          <a:prstGeom prst="rect">
            <a:avLst/>
          </a:prstGeom>
          <a:solidFill>
            <a:srgbClr val="D84B6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</a:rPr>
              <a:t>The global solar PV and battery storage market is a complex and rapidly evolving landscape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82296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50800" dist="25400" dir="5400000">
              <a:srgbClr val="E5E5E5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743200"/>
            <a:ext cx="91440" cy="822960"/>
          </a:xfrm>
          <a:prstGeom prst="rect">
            <a:avLst/>
          </a:prstGeom>
          <a:solidFill>
            <a:srgbClr val="D84B6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43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</a:rPr>
              <a:t>Understanding the key trends, drivers, and challenges is crucial for stakeholders to navigate this market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"The Future of Energy"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3657600" y="3108960"/>
            <a:ext cx="1828800" cy="45720"/>
          </a:xfrm>
          <a:prstGeom prst="rect">
            <a:avLst/>
          </a:prstGeom>
          <a:solidFill>
            <a:srgbClr val="D84B6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383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0F5"/>
                </a:solidFill>
              </a:rPr>
              <a:t>Solar PV and Battery Storage Leading the Charge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2026-04-12T16:40:32Z</dcterms:created>
  <dcterms:modified xsi:type="dcterms:W3CDTF">2026-04-12T16:40:32Z</dcterms:modified>
</cp:coreProperties>
</file>