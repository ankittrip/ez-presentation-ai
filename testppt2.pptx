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Acquisition Volume and Investment by Fiscal Year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18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895E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2020</c:v>
                  </c:pt>
                  <c:pt idx="1">
                    <c:v>2021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4.2</c:v>
                </c:pt>
                <c:pt idx="2">
                  <c:v>6.6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Workforce Realignment Metrics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18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Headcount Reduction</c:v>
                  </c:pt>
                  <c:pt idx="1">
                    <c:v>AI/Data Specialists</c:v>
                  </c:pt>
                  <c:pt idx="2">
                    <c:v>Restructuring Charges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11000</c:v>
                </c:pt>
                <c:pt idx="1">
                  <c:v>77000</c:v>
                </c:pt>
                <c:pt idx="2">
                  <c:v>865000000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AI-Driven Financial Metrics FY25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18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Advanced AI Bookings</c:v>
                  </c:pt>
                  <c:pt idx="1">
                    <c:v>Advanced AI Revenue</c:v>
                  </c:pt>
                  <c:pt idx="2">
                    <c:v>Full-Year Revenue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5.9</c:v>
                </c:pt>
                <c:pt idx="1">
                  <c:v>2.7</c:v>
                </c:pt>
                <c:pt idx="2">
                  <c:v>69.7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Creation Potential by Acquisition Domain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18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Agentic AI</c:v>
                  </c:pt>
                  <c:pt idx="1">
                    <c:v>Sovereign Cybersecurity</c:v>
                  </c:pt>
                  <c:pt idx="2">
                    <c:v>Advanced Learning Platforms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Prioritized Domains for Acquisition Focus</c:v>
                </c:pt>
              </c:strCache>
            </c:strRef>
          </c:tx>
          <c:spPr>
            <a:solidFill>
              <a:srgbClr val="FF4D6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4D6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18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61E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Agentic AI</c:v>
                  </c:pt>
                  <c:pt idx="1">
                    <c:v>Sovereign Cybersecurity</c:v>
                  </c:pt>
                  <c:pt idx="2">
                    <c:v>Advanced Learning Platforms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MASTER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AGENDA_MASTER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MAST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Generated by EZ AI Agent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AL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Generated by EZ AI Agent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_MASTER">
    <p:bg>
      <p:bgPr>
        <a:solidFill>
          <a:srgbClr val="FFE4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_MASTER">
    <p:bg>
      <p:bgPr>
        <a:solidFill>
          <a:srgbClr val="80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Generated by EZ AI Agent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84B6B"/>
                </a:solidFill>
              </a:rPr>
              <a:t>Accenture Tech Acquisition Analysis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</a:rPr>
              <a:t>Driving Value through Strategic Acquisitions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Strategic Context and Evolution of Accenture’s Acquisition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931920" cy="1645920"/>
          </a:xfrm>
          <a:prstGeom prst="roundRect">
            <a:avLst>
              <a:gd name="adj" fmla="val 277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38100" dist="25400" dir="2700000">
              <a:srgbClr val="DDDDDD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645920"/>
            <a:ext cx="393192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00020"/>
                </a:solidFill>
              </a:rPr>
              <a:t>$1.5B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</a:rPr>
              <a:t>Investment in 2020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3931920" cy="1645920"/>
          </a:xfrm>
          <a:prstGeom prst="roundRect">
            <a:avLst>
              <a:gd name="adj" fmla="val 277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38100" dist="25400" dir="2700000">
              <a:srgbClr val="DDDDDD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645920"/>
            <a:ext cx="393192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00020"/>
                </a:solidFill>
              </a:rPr>
              <a:t>46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</a:rPr>
              <a:t>Acquisitions in 2021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Acquisition Trends and Patterns (2020–2025)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1E2A38"/>
          </a:solidFill>
          <a:ln/>
          <a:effectLst>
            <a:outerShdw sx="100000" sy="100000" kx="0" ky="0" algn="bl" rotWithShape="0" blurRad="63500" dist="38100" dir="2700000">
              <a:srgbClr val="A0A0A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508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4D6D"/>
                </a:solidFill>
              </a:rPr>
              <a:t>$6.6B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194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INVESTMENT IN FY24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566160" y="12344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5661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</a:rPr>
              <a:t>Note: Accenture's acquisition strategy shows increasing investment and sustained volume, with clear emphasis on AI, cybersecurity, infrastructure, and learning domains.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Geographic and Sectoral Distribution of Acquisitions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4023360" cy="2834640"/>
          </a:xfrm>
          <a:prstGeom prst="roundRect">
            <a:avLst>
              <a:gd name="adj" fmla="val 1613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4023360" cy="45720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EUROPE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D42"/>
                </a:solidFill>
              </a:rPr>
              <a:t>Halfspace and Systema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4023360" cy="2834640"/>
          </a:xfrm>
          <a:prstGeom prst="roundRect">
            <a:avLst>
              <a:gd name="adj" fmla="val 1613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645920"/>
            <a:ext cx="4023360" cy="45720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645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ASIA-PACIFIC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D42"/>
                </a:solidFill>
              </a:rPr>
              <a:t>Percipient and CyberCX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Analysis of Major Acquisitions by Domain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1645920"/>
          </a:xfrm>
          <a:prstGeom prst="roundRect">
            <a:avLst>
              <a:gd name="adj" fmla="val 277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38100" dist="25400" dir="2700000">
              <a:srgbClr val="DDDDDD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00020"/>
                </a:solidFill>
              </a:rPr>
              <a:t>80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</a:rPr>
              <a:t>AI Professionals from Halfspace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280160"/>
            <a:ext cx="3931920" cy="1645920"/>
          </a:xfrm>
          <a:prstGeom prst="roundRect">
            <a:avLst>
              <a:gd name="adj" fmla="val 277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38100" dist="25400" dir="2700000">
              <a:srgbClr val="DDDDDD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280160"/>
            <a:ext cx="393192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645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00020"/>
                </a:solidFill>
              </a:rPr>
              <a:t>1,400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</a:rPr>
              <a:t>Professionals from CyberCX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Integration Outcomes and Organizational Realignment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1E2A38"/>
          </a:solidFill>
          <a:ln/>
          <a:effectLst>
            <a:outerShdw sx="100000" sy="100000" kx="0" ky="0" algn="bl" rotWithShape="0" blurRad="63500" dist="38100" dir="2700000">
              <a:srgbClr val="A0A0A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508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4D6D"/>
                </a:solidFill>
              </a:rPr>
              <a:t>$865M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194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RESTRUCTURING PROGRAM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566160" y="12344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5661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</a:rPr>
              <a:t>Note: Accenture's restructuring program has led to a leaner, more focused workforce aligned with its Reinvention Services model and AI-centric growth trajectory.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Financial and Market Impact of Acquisitions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1E2A38"/>
          </a:solidFill>
          <a:ln/>
          <a:effectLst>
            <a:outerShdw sx="100000" sy="100000" kx="0" ky="0" algn="bl" rotWithShape="0" blurRad="63500" dist="38100" dir="2700000">
              <a:srgbClr val="A0A0A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508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4D6D"/>
                </a:solidFill>
              </a:rPr>
              <a:t>7%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194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YOY REVENUE GROWTH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566160" y="12344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5661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</a:rPr>
              <a:t>Note: Accenture's strategic investments in AI have significantly boosted its financial performance in FY25, with AI-driven gains contributing to a 7% increase in total revenue.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Reinvention Services as a Competitive Lever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1471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CYBERSECURITY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D42"/>
                </a:solidFill>
              </a:rPr>
              <a:t>CyberCX and IAMConcepts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1471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801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AND DIGITAL TRANSFORMATION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92024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D42"/>
                </a:solidFill>
              </a:rPr>
              <a:t>Halfspace and NeuraFlash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Forward-Looking Acquisition Opportunities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1E2A38"/>
          </a:solidFill>
          <a:ln/>
          <a:effectLst>
            <a:outerShdw sx="100000" sy="100000" kx="0" ky="0" algn="bl" rotWithShape="0" blurRad="63500" dist="38100" dir="2700000">
              <a:srgbClr val="A0A0A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508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4D6D"/>
                </a:solidFill>
              </a:rPr>
              <a:t>$93.75B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194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AI-DRIVEN CYBERSECURITY MARKET BY 2030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566160" y="12344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5661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</a:rPr>
              <a:t>Note: Acquisitions in these domains could drive significant economic and strategic value, accelerating time-to-market for enterprise AI agents, enabling new revenue streams, and reducing development costs.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Strategic Recommendations for Future Acquisition Strategy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25880"/>
            <a:ext cx="2926080" cy="2011680"/>
          </a:xfrm>
          <a:prstGeom prst="roundRect">
            <a:avLst>
              <a:gd name="adj" fmla="val 4545"/>
            </a:avLst>
          </a:prstGeom>
          <a:solidFill>
            <a:srgbClr val="1E2A38"/>
          </a:solidFill>
          <a:ln/>
          <a:effectLst>
            <a:outerShdw sx="100000" sy="100000" kx="0" ky="0" algn="bl" rotWithShape="0" blurRad="63500" dist="38100" dir="2700000">
              <a:srgbClr val="A0A0A0">
                <a:alpha val="7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5087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4D6D"/>
                </a:solidFill>
              </a:rPr>
              <a:t>$6.6B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21945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1460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INVESTMENT IN FY24</a:t>
            </a:r>
            <a:endParaRPr lang="en-US" sz="1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566160" y="12344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56616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B2D42"/>
                </a:solidFill>
              </a:rPr>
              <a:t>Note: Accenture should prioritize acquisitions in these domains to maximize strategic gains and reinforce its competitive edge in AI-driven reinvention.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Enhancements to Acquisition Integration and Capability Scaling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3931920" cy="1645920"/>
          </a:xfrm>
          <a:prstGeom prst="roundRect">
            <a:avLst>
              <a:gd name="adj" fmla="val 277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38100" dist="25400" dir="2700000">
              <a:srgbClr val="DDDDDD">
                <a:alpha val="7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645920"/>
            <a:ext cx="393192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00020"/>
                </a:solidFill>
              </a:rPr>
              <a:t>4x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</a:rPr>
              <a:t>More Likely to Realize Post-Acquisition Value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3931920" cy="1645920"/>
          </a:xfrm>
          <a:prstGeom prst="roundRect">
            <a:avLst>
              <a:gd name="adj" fmla="val 2778"/>
            </a:avLst>
          </a:prstGeom>
          <a:solidFill>
            <a:srgbClr val="F8F9FA"/>
          </a:solidFill>
          <a:ln w="12700">
            <a:solidFill>
              <a:srgbClr val="EAEAEA"/>
            </a:solidFill>
            <a:prstDash val="solid"/>
          </a:ln>
          <a:effectLst>
            <a:outerShdw sx="100000" sy="100000" kx="0" ky="0" algn="bl" rotWithShape="0" blurRad="38100" dist="25400" dir="2700000">
              <a:srgbClr val="DDDDDD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645920"/>
            <a:ext cx="3931920" cy="54864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0116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00020"/>
                </a:solidFill>
              </a:rPr>
              <a:t>20-25%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63440" y="26517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D42"/>
                </a:solidFill>
              </a:rPr>
              <a:t>Increase in Acquisition Inquiries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800020"/>
                </a:solidFill>
              </a:rPr>
              <a:t>Aligning Acquisitions with Reinvention Services Growth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4023360" cy="2834640"/>
          </a:xfrm>
          <a:prstGeom prst="roundRect">
            <a:avLst>
              <a:gd name="adj" fmla="val 1613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4023360" cy="45720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CYBERSECURITY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D42"/>
                </a:solidFill>
              </a:rPr>
              <a:t>CyberCX and IAMConcepts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4023360" cy="2834640"/>
          </a:xfrm>
          <a:prstGeom prst="roundRect">
            <a:avLst>
              <a:gd name="adj" fmla="val 1613"/>
            </a:avLst>
          </a:prstGeom>
          <a:solidFill>
            <a:srgbClr val="F8F9FA"/>
          </a:solidFill>
          <a:ln w="19050">
            <a:solidFill>
              <a:srgbClr val="800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645920"/>
            <a:ext cx="4023360" cy="457200"/>
          </a:xfrm>
          <a:prstGeom prst="rect">
            <a:avLst/>
          </a:prstGeom>
          <a:solidFill>
            <a:srgbClr val="800020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645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AND DIGITAL TRANSFORMATION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2B2D42"/>
                </a:solidFill>
              </a:rPr>
              <a:t>Halfspace and NeuraFlash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"Accenture's Strategic Big Bet"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657600" y="3108960"/>
            <a:ext cx="1828800" cy="45720"/>
          </a:xfrm>
          <a:prstGeom prst="rect">
            <a:avLst/>
          </a:prstGeom>
          <a:solidFill>
            <a:srgbClr val="D84B6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0F5"/>
                </a:solidFill>
              </a:rPr>
              <a:t>Reinvention Services: The Future of Digital Transformation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2026-04-12T16:42:08Z</dcterms:created>
  <dcterms:modified xsi:type="dcterms:W3CDTF">2026-04-12T16:42:08Z</dcterms:modified>
</cp:coreProperties>
</file>